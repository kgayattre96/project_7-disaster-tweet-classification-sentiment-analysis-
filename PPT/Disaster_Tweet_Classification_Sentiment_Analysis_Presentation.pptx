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731520"/>
            <a:ext cx="2377440" cy="2377440"/>
          </a:xfrm>
          <a:prstGeom prst="ellipse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286000"/>
            <a:ext cx="1554480" cy="1554480"/>
          </a:xfrm>
          <a:prstGeom prst="ellipse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0" y="3840480"/>
            <a:ext cx="2103120" cy="2103120"/>
          </a:xfrm>
          <a:prstGeom prst="ellipse">
            <a:avLst/>
          </a:prstGeom>
          <a:solidFill>
            <a:srgbClr val="60C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773873"/>
            <a:ext cx="7132320" cy="1600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rPr dirty="0"/>
              <a:t>Disaster Tweet</a:t>
            </a:r>
            <a:br>
              <a:rPr dirty="0"/>
            </a:br>
            <a:r>
              <a:rPr dirty="0"/>
              <a:t>Classification &amp; Sentiment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91727"/>
            <a:ext cx="6309360" cy="8229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900" b="0">
                <a:solidFill>
                  <a:srgbClr val="DAE4F0"/>
                </a:solidFill>
                <a:latin typeface="Aptos"/>
              </a:defRPr>
            </a:pPr>
            <a:r>
              <a:rPr dirty="0"/>
              <a:t>A transformer-based text classifier with independent sentiment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58683"/>
            <a:ext cx="621792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500" b="1">
                <a:solidFill>
                  <a:srgbClr val="60C2D2"/>
                </a:solidFill>
                <a:latin typeface="Aptos"/>
              </a:defRPr>
            </a:pPr>
            <a:r>
              <a:rPr dirty="0" err="1"/>
              <a:t>DistilBERT</a:t>
            </a:r>
            <a:r>
              <a:rPr dirty="0"/>
              <a:t> • VADER • </a:t>
            </a:r>
            <a:r>
              <a:rPr dirty="0" err="1"/>
              <a:t>Streamlit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3B3CA5-9035-4449-9958-3EE46DDEAA64}"/>
              </a:ext>
            </a:extLst>
          </p:cNvPr>
          <p:cNvSpPr txBox="1"/>
          <p:nvPr/>
        </p:nvSpPr>
        <p:spPr>
          <a:xfrm flipH="1">
            <a:off x="685800" y="5234199"/>
            <a:ext cx="332517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900" b="0">
                <a:solidFill>
                  <a:srgbClr val="DAE4F0"/>
                </a:solidFill>
                <a:latin typeface="Aptos"/>
              </a:defRPr>
            </a:pPr>
            <a:r>
              <a:rPr lang="en-US" sz="1900" dirty="0">
                <a:solidFill>
                  <a:srgbClr val="DAE4F0"/>
                </a:solidFill>
                <a:latin typeface="Aptos"/>
              </a:rPr>
              <a:t>By: </a:t>
            </a:r>
            <a:r>
              <a:rPr lang="en-US" sz="1900" dirty="0" err="1">
                <a:solidFill>
                  <a:srgbClr val="DAE4F0"/>
                </a:solidFill>
                <a:latin typeface="Aptos"/>
              </a:rPr>
              <a:t>Kondepudi</a:t>
            </a:r>
            <a:r>
              <a:rPr lang="en-US" sz="1900" dirty="0">
                <a:solidFill>
                  <a:srgbClr val="DAE4F0"/>
                </a:solidFill>
                <a:latin typeface="Aptos"/>
              </a:rPr>
              <a:t> </a:t>
            </a:r>
            <a:r>
              <a:rPr lang="en-US" sz="1900" dirty="0" err="1">
                <a:solidFill>
                  <a:srgbClr val="DAE4F0"/>
                </a:solidFill>
                <a:latin typeface="Aptos"/>
              </a:rPr>
              <a:t>Gayattre</a:t>
            </a:r>
            <a:endParaRPr lang="en-US" sz="1900" dirty="0">
              <a:solidFill>
                <a:srgbClr val="DAE4F0"/>
              </a:solidFill>
              <a:latin typeface="Aptos"/>
            </a:endParaRPr>
          </a:p>
          <a:p>
            <a:pPr>
              <a:defRPr sz="1900" b="0">
                <a:solidFill>
                  <a:srgbClr val="DAE4F0"/>
                </a:solidFill>
                <a:latin typeface="Aptos"/>
              </a:defRPr>
            </a:pPr>
            <a:r>
              <a:rPr lang="en-US" sz="1900" dirty="0">
                <a:solidFill>
                  <a:srgbClr val="DAE4F0"/>
                </a:solidFill>
                <a:latin typeface="Aptos"/>
              </a:rPr>
              <a:t>Course: </a:t>
            </a:r>
            <a:r>
              <a:rPr lang="en-US" sz="1900" dirty="0" err="1">
                <a:solidFill>
                  <a:srgbClr val="DAE4F0"/>
                </a:solidFill>
                <a:latin typeface="Aptos"/>
              </a:rPr>
              <a:t>Digicrome</a:t>
            </a:r>
            <a:endParaRPr lang="en-US" sz="1900" dirty="0">
              <a:solidFill>
                <a:srgbClr val="DAE4F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62890"/>
            <a:ext cx="10058400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•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1017821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63336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63336"/>
            <a:ext cx="73152" cy="1828800"/>
          </a:xfrm>
          <a:prstGeom prst="rect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326964"/>
            <a:ext cx="315468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729"/>
            <a:ext cx="3154680" cy="71096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Disaster-related posts can be mixed with everyday, fictional, or unrelated text. Keyword matching alone can mislead.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1717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59023" y="2171700"/>
            <a:ext cx="73152" cy="182880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363751"/>
            <a:ext cx="315468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0770" y="2950291"/>
            <a:ext cx="3154680" cy="4955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tweet text as Disaster or Non-Disaster.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191911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7199" y="2216598"/>
            <a:ext cx="73152" cy="1828800"/>
          </a:xfrm>
          <a:prstGeom prst="rect">
            <a:avLst/>
          </a:prstGeom>
          <a:solidFill>
            <a:srgbClr val="E5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343674"/>
            <a:ext cx="315468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004626"/>
            <a:ext cx="3154680" cy="4955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VADER separately to estimate Positive, Negative, or Neutral sentiment.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572000"/>
            <a:ext cx="10789920" cy="38779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1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text input produces two independent outputs.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673781"/>
            <a:ext cx="9966960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600" b="0">
                <a:solidFill>
                  <a:srgbClr val="606E8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asks “Is this text disaster-related?” • Sentiment asks “What emotional tone does it express?”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•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1138428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92" y="2395728"/>
            <a:ext cx="6400800" cy="199028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binary text classifier for disaster-related versus non-disaster tweets.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Bag of Words and TF-IDF as traditional text representations.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final classification model.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VADER sentiment analysis into 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 the code and model artifacts on GitHub and deploy the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28800"/>
            <a:ext cx="37947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828800"/>
            <a:ext cx="73152" cy="324612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54696" y="2391120"/>
            <a:ext cx="342900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3017591"/>
            <a:ext cx="3429000" cy="104951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5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app that accepts tweet text and displays a class label, confidence estimate, sentiment label, and VADER compound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95528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2240279" cy="4493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500" b="1">
                <a:solidFill>
                  <a:srgbClr val="2868B3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7,613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2240279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606E80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764792"/>
            <a:ext cx="2240279" cy="4493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500" b="1">
                <a:solidFill>
                  <a:srgbClr val="1D9B8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50008"/>
            <a:ext cx="2240279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606E80"/>
                </a:solidFill>
                <a:latin typeface="Aptos"/>
              </a:defRPr>
            </a:pPr>
            <a:r>
              <a:rPr sz="1600" dirty="0"/>
              <a:t>Target classes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6002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764792"/>
            <a:ext cx="2240279" cy="4493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500" b="1">
                <a:solidFill>
                  <a:srgbClr val="E59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 /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350008"/>
            <a:ext cx="2240279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606E80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encoding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6002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1764792"/>
            <a:ext cx="2240279" cy="4493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500" b="1">
                <a:solidFill>
                  <a:srgbClr val="60C2D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350008"/>
            <a:ext cx="2240279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606E80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491448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520440"/>
            <a:ext cx="73152" cy="1691640"/>
          </a:xfrm>
          <a:prstGeom prst="rect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3666744"/>
            <a:ext cx="480060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087368"/>
            <a:ext cx="4800600" cy="55707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Non-Disaster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Disaster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52044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520440"/>
            <a:ext cx="73152" cy="169164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3666744"/>
            <a:ext cx="480060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087368"/>
            <a:ext cx="4800600" cy="52629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500" b="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 text and binary target labels provide the supervised signal for model training.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071E401E-A07D-4802-9D7A-612E1FCA6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735" y="5640607"/>
            <a:ext cx="9071522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300" dirty="0">
                <a:solidFill>
                  <a:srgbClr val="606E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trained </a:t>
            </a:r>
            <a:r>
              <a:rPr lang="en-US" altLang="en-US" sz="1300" dirty="0" err="1">
                <a:solidFill>
                  <a:srgbClr val="606E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altLang="en-US" sz="1300" dirty="0">
                <a:solidFill>
                  <a:srgbClr val="606E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and tokenizer were saved and integrated into the </a:t>
            </a:r>
            <a:r>
              <a:rPr lang="en-US" altLang="en-US" sz="1300" dirty="0" err="1">
                <a:solidFill>
                  <a:srgbClr val="606E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 sz="1300" dirty="0">
                <a:solidFill>
                  <a:srgbClr val="606E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for real-time text 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1280160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and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34639"/>
            <a:ext cx="6492240" cy="199028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 dataset structure, text, target labels, missing values, and duplicates.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text consistently for NLP processing.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input text from target labels before training.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training, validation, and test splits for fitting and evaluation.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 text using the tokenizer paired with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28800"/>
            <a:ext cx="37033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828800"/>
            <a:ext cx="73152" cy="333756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2440334"/>
            <a:ext cx="333756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preparation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3140965"/>
            <a:ext cx="3337560" cy="987963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500" b="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inputs help the model learn useful language patterns. The tokenizer converts text into token IDs and attention masks.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NLP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73152" cy="2423160"/>
          </a:xfrm>
          <a:prstGeom prst="rect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37944"/>
            <a:ext cx="310896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 of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58568"/>
            <a:ext cx="3108960" cy="80329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text using token counts. Simple baseline, but it does not capture word order or deep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9164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691640"/>
            <a:ext cx="73152" cy="242316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37944"/>
            <a:ext cx="310896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58568"/>
            <a:ext cx="3108960" cy="80329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terms by importance across documents. Remains a sparse representation.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9164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691640"/>
            <a:ext cx="73152" cy="2423160"/>
          </a:xfrm>
          <a:prstGeom prst="rect">
            <a:avLst/>
          </a:prstGeom>
          <a:solidFill>
            <a:srgbClr val="E5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837944"/>
            <a:ext cx="310896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56448" y="2258568"/>
            <a:ext cx="3108960" cy="80329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contextual representations learned by a transformer. Selected as the final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54880"/>
            <a:ext cx="10332720" cy="6400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700" b="1">
                <a:solidFill>
                  <a:srgbClr val="13233E"/>
                </a:solidFill>
                <a:latin typeface="Aptos"/>
              </a:defRPr>
            </a:pPr>
            <a:r>
              <a:t>BoW and TF-IDF were explored; DistilBERT was used for the final deployed classifier.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•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2962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91640"/>
            <a:ext cx="73152" cy="2148840"/>
          </a:xfrm>
          <a:prstGeom prst="rect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837944"/>
            <a:ext cx="306324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58568"/>
            <a:ext cx="3063240" cy="80329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words in relation to their surrounding context rather than isolated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73152" cy="214884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837944"/>
            <a:ext cx="306324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58568"/>
            <a:ext cx="3063240" cy="80329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from learned language patterns and is fine-tuned for the two project classes.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916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691640"/>
            <a:ext cx="73152" cy="2148840"/>
          </a:xfrm>
          <a:prstGeom prst="rect">
            <a:avLst/>
          </a:prstGeom>
          <a:solidFill>
            <a:srgbClr val="E5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837944"/>
            <a:ext cx="306324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final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58568"/>
            <a:ext cx="3063240" cy="80329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transformer-based classifier for the deployed application.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" y="4782312"/>
            <a:ext cx="10241280" cy="6186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8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-base-uncased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binary sequence 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•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782997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99032" y="1572768"/>
            <a:ext cx="640080" cy="640080"/>
          </a:xfrm>
          <a:prstGeom prst="ellipse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99032" y="1709928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78308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71800"/>
            <a:ext cx="1737360" cy="80329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2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into token IDs and masks.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9232" y="1965960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12463" y="1572768"/>
            <a:ext cx="640080" cy="640080"/>
          </a:xfrm>
          <a:prstGeom prst="ellipse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12463" y="1709928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1" y="2468880"/>
            <a:ext cx="178308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3824" y="2971800"/>
            <a:ext cx="1737360" cy="55707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2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on labeled examples.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12664" y="1965960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25896" y="1572768"/>
            <a:ext cx="640080" cy="640080"/>
          </a:xfrm>
          <a:prstGeom prst="ellipse">
            <a:avLst/>
          </a:prstGeom>
          <a:solidFill>
            <a:srgbClr val="E5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25896" y="1709928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9824" y="2468880"/>
            <a:ext cx="178308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5" y="2971800"/>
            <a:ext cx="1737360" cy="80329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2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performance on validation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6096" y="1965960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39327" y="1572768"/>
            <a:ext cx="640080" cy="640080"/>
          </a:xfrm>
          <a:prstGeom prst="ellipse">
            <a:avLst/>
          </a:prstGeom>
          <a:solidFill>
            <a:srgbClr val="60C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7" y="1709928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468880"/>
            <a:ext cx="178308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2971800"/>
            <a:ext cx="1737360" cy="68018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200" b="0">
                <a:solidFill>
                  <a:srgbClr val="273446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on held-out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9528" y="1965960"/>
            <a:ext cx="2057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52759" y="1572768"/>
            <a:ext cx="640080" cy="640080"/>
          </a:xfrm>
          <a:prstGeom prst="ellipse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52759" y="1709928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2468880"/>
            <a:ext cx="178308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19" y="2971800"/>
            <a:ext cx="1737360" cy="80329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2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model and tokenizer for inference.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83480"/>
            <a:ext cx="10058400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500" b="0">
                <a:solidFill>
                  <a:srgbClr val="606E80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artifacts include model weights, configuration, and tokenizer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834983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2331720" cy="4493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500" b="1">
                <a:solidFill>
                  <a:srgbClr val="2868B3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84.12%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2331720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606E80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810512"/>
            <a:ext cx="2331720" cy="4493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500" b="1">
                <a:solidFill>
                  <a:srgbClr val="1D9B8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81.99%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95728"/>
            <a:ext cx="2331720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606E80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810512"/>
            <a:ext cx="2331720" cy="4493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500" b="1">
                <a:solidFill>
                  <a:srgbClr val="E5913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80.73%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95728"/>
            <a:ext cx="233172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606E80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64592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19" y="1810512"/>
            <a:ext cx="233172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500" b="1">
                <a:solidFill>
                  <a:srgbClr val="60C2D2"/>
                </a:solidFill>
                <a:latin typeface="Aptos"/>
              </a:defRPr>
            </a:pPr>
            <a:r>
              <a:t>81.36%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395728"/>
            <a:ext cx="233172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606E80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794760"/>
            <a:ext cx="4937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794760"/>
            <a:ext cx="73152" cy="1554480"/>
          </a:xfrm>
          <a:prstGeom prst="rect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3941064"/>
            <a:ext cx="457200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361688"/>
            <a:ext cx="4572000" cy="55707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predicted disaster tweets, how many were labeled disaster.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94760"/>
            <a:ext cx="4937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794760"/>
            <a:ext cx="73152" cy="155448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4807" y="3941064"/>
            <a:ext cx="457200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and 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361688"/>
            <a:ext cx="4572000" cy="55707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measures disaster cases found. F1 balances precision and recall.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241280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200" b="0">
                <a:solidFill>
                  <a:srgbClr val="606E80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 test-set results for the final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5530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and 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389120" cy="34163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8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Test-set predictions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1508760" cy="594360"/>
          </a:xfrm>
          <a:prstGeom prst="rect">
            <a:avLst/>
          </a:prstGeom>
          <a:solidFill>
            <a:srgbClr val="1323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2130552"/>
            <a:ext cx="1435607" cy="48463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0" y="2057400"/>
            <a:ext cx="1691640" cy="594360"/>
          </a:xfrm>
          <a:prstGeom prst="rect">
            <a:avLst/>
          </a:prstGeom>
          <a:solidFill>
            <a:srgbClr val="1323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22576" y="2255913"/>
            <a:ext cx="1618488" cy="23391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non-disaster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2057400"/>
            <a:ext cx="1417320" cy="594360"/>
          </a:xfrm>
          <a:prstGeom prst="rect">
            <a:avLst/>
          </a:prstGeom>
          <a:solidFill>
            <a:srgbClr val="1323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14215" y="2255913"/>
            <a:ext cx="1344168" cy="23391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disaster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651760"/>
            <a:ext cx="1508760" cy="731520"/>
          </a:xfrm>
          <a:prstGeom prst="rect">
            <a:avLst/>
          </a:prstGeom>
          <a:solidFill>
            <a:srgbClr val="1323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2918853"/>
            <a:ext cx="1435607" cy="23391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non-disaster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651760"/>
            <a:ext cx="1691640" cy="731520"/>
          </a:xfrm>
          <a:prstGeom prst="rect">
            <a:avLst/>
          </a:prstGeom>
          <a:solidFill>
            <a:srgbClr val="E0F4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2576" y="2724912"/>
            <a:ext cx="1618488" cy="62179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2000" b="1">
                <a:solidFill>
                  <a:srgbClr val="13233E"/>
                </a:solidFill>
                <a:latin typeface="Aptos"/>
              </a:defRPr>
            </a:pPr>
            <a:r>
              <a:t>377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2651760"/>
            <a:ext cx="1417320" cy="731520"/>
          </a:xfrm>
          <a:prstGeom prst="rect">
            <a:avLst/>
          </a:prstGeom>
          <a:solidFill>
            <a:srgbClr val="E6EE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14215" y="2724912"/>
            <a:ext cx="1344168" cy="62179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2000" b="1">
                <a:solidFill>
                  <a:srgbClr val="13233E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83280"/>
            <a:ext cx="1508760" cy="731520"/>
          </a:xfrm>
          <a:prstGeom prst="rect">
            <a:avLst/>
          </a:prstGeom>
          <a:solidFill>
            <a:srgbClr val="1323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" y="3650373"/>
            <a:ext cx="1435607" cy="23391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disaster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383280"/>
            <a:ext cx="1691640" cy="731520"/>
          </a:xfrm>
          <a:prstGeom prst="rect">
            <a:avLst/>
          </a:prstGeom>
          <a:solidFill>
            <a:srgbClr val="E6EE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22576" y="3456432"/>
            <a:ext cx="1618488" cy="62179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2000" b="1">
                <a:solidFill>
                  <a:srgbClr val="13233E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3383280"/>
            <a:ext cx="1417320" cy="731520"/>
          </a:xfrm>
          <a:prstGeom prst="rect">
            <a:avLst/>
          </a:prstGeom>
          <a:solidFill>
            <a:srgbClr val="E0F4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14215" y="3456432"/>
            <a:ext cx="1344168" cy="62179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2000" b="1">
                <a:solidFill>
                  <a:srgbClr val="13233E"/>
                </a:solidFill>
                <a:latin typeface="Aptos"/>
              </a:defRPr>
            </a:pPr>
            <a:r>
              <a:t>264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182880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0" y="1828800"/>
            <a:ext cx="73152" cy="150876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36207" y="1975104"/>
            <a:ext cx="4709159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predictions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2395728"/>
            <a:ext cx="4709159" cy="4955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377 non-disaster and 264 disaster examples were correctly classified.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61188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35040" y="3611880"/>
            <a:ext cx="73152" cy="1508760"/>
          </a:xfrm>
          <a:prstGeom prst="rect">
            <a:avLst/>
          </a:prstGeom>
          <a:solidFill>
            <a:srgbClr val="E5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36207" y="3758184"/>
            <a:ext cx="4709159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7" y="4178808"/>
            <a:ext cx="4709159" cy="464743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300" b="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58 non-disaster examples were predicted as disaster; 63 disaster examples were predicted as non-disaster.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166360"/>
            <a:ext cx="4572000" cy="35702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900" b="1">
                <a:solidFill>
                  <a:srgbClr val="C24F4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121 errors in 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623560"/>
            <a:ext cx="45720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200" b="0">
                <a:solidFill>
                  <a:srgbClr val="606E80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Context, ambiguity, and noisy labels can contribute.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•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3853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with VADER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73152" cy="228600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92224"/>
            <a:ext cx="306324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12848"/>
            <a:ext cx="3063240" cy="55707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5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compound sentiment is labeled positive.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73152" cy="2286000"/>
          </a:xfrm>
          <a:prstGeom prst="rect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792224"/>
            <a:ext cx="306324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12848"/>
            <a:ext cx="3063240" cy="55707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5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near the neutral range is labeled neutral.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4592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645920"/>
            <a:ext cx="73152" cy="2286000"/>
          </a:xfrm>
          <a:prstGeom prst="rect">
            <a:avLst/>
          </a:prstGeom>
          <a:solidFill>
            <a:srgbClr val="E5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792224"/>
            <a:ext cx="306324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12848"/>
            <a:ext cx="3063240" cy="55707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5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compound sentiment is labeled negative.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34840"/>
            <a:ext cx="10241280" cy="326243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is lexicon- and rule-based; its compound score summarizes sentiment polarity.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57800"/>
            <a:ext cx="9966960" cy="29546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500" b="0">
                <a:solidFill>
                  <a:srgbClr val="606E8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is analyzed independently of disaster classification.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•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784691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057400" cy="1005840"/>
          </a:xfrm>
          <a:prstGeom prst="roundRect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545732"/>
            <a:ext cx="1874519" cy="49552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240280"/>
            <a:ext cx="2148840" cy="1005840"/>
          </a:xfrm>
          <a:prstGeom prst="round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2545732"/>
            <a:ext cx="1965960" cy="49552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tokenizer +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08760"/>
            <a:ext cx="2194560" cy="1005840"/>
          </a:xfrm>
          <a:prstGeom prst="roundRect">
            <a:avLst/>
          </a:prstGeom>
          <a:solidFill>
            <a:srgbClr val="E5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59" y="1814211"/>
            <a:ext cx="2011679" cy="49552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/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Non-Disaster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017520"/>
            <a:ext cx="2194560" cy="1005840"/>
          </a:xfrm>
          <a:prstGeom prst="roundRect">
            <a:avLst/>
          </a:prstGeom>
          <a:solidFill>
            <a:srgbClr val="60C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59" y="3322972"/>
            <a:ext cx="2011679" cy="49552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240280"/>
            <a:ext cx="2331720" cy="1005840"/>
          </a:xfrm>
          <a:prstGeom prst="round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2545732"/>
            <a:ext cx="2148839" cy="49552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results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97480" y="2743200"/>
            <a:ext cx="548640" cy="0"/>
          </a:xfrm>
          <a:prstGeom prst="line">
            <a:avLst/>
          </a:prstGeom>
          <a:ln w="25400">
            <a:solidFill>
              <a:srgbClr val="606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394960" y="2011680"/>
            <a:ext cx="594360" cy="594360"/>
          </a:xfrm>
          <a:prstGeom prst="line">
            <a:avLst/>
          </a:prstGeom>
          <a:ln w="25400">
            <a:solidFill>
              <a:srgbClr val="606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0" y="2834640"/>
            <a:ext cx="594360" cy="640080"/>
          </a:xfrm>
          <a:prstGeom prst="line">
            <a:avLst/>
          </a:prstGeom>
          <a:ln w="25400">
            <a:solidFill>
              <a:srgbClr val="606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83879" y="2011680"/>
            <a:ext cx="731521" cy="548640"/>
          </a:xfrm>
          <a:prstGeom prst="line">
            <a:avLst/>
          </a:prstGeom>
          <a:ln w="25400">
            <a:solidFill>
              <a:srgbClr val="606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183879" y="2880360"/>
            <a:ext cx="731521" cy="594360"/>
          </a:xfrm>
          <a:prstGeom prst="line">
            <a:avLst/>
          </a:prstGeom>
          <a:ln w="25400">
            <a:solidFill>
              <a:srgbClr val="606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4846320"/>
            <a:ext cx="10241280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paths run independently and their outputs appear together in one interface.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•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2668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73152" cy="2423160"/>
          </a:xfrm>
          <a:prstGeom prst="rect">
            <a:avLst/>
          </a:prstGeom>
          <a:solidFill>
            <a:srgbClr val="286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92224"/>
            <a:ext cx="306324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12848"/>
            <a:ext cx="3063240" cy="55707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5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select a sample tweet or type text into the input area.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73152" cy="242316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792224"/>
            <a:ext cx="306324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12848"/>
            <a:ext cx="3063240" cy="104951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Disaster or Non-Disaster, a confidence estimate, and a low-confidence caution where appropriate.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4592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645920"/>
            <a:ext cx="73152" cy="2423160"/>
          </a:xfrm>
          <a:prstGeom prst="rect">
            <a:avLst/>
          </a:prstGeom>
          <a:solidFill>
            <a:srgbClr val="E5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792224"/>
            <a:ext cx="306324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12848"/>
            <a:ext cx="3063240" cy="80329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Positive, Negative, or Neutral sentiment alongside the VADER compound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332720" cy="29546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5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live app was tested with disaster, non-disaster, and ambiguous examples; outputs appeared correctly.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1">
                <a:solidFill>
                  <a:srgbClr val="1D9B8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•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12592"/>
            <a:ext cx="10972800" cy="48013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7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900" b="0">
                <a:solidFill>
                  <a:srgbClr val="606E80"/>
                </a:solidFill>
                <a:latin typeface="Aptos"/>
              </a:defRPr>
            </a:pPr>
            <a:r>
              <a:t>NLP • Disaster Tweet Classification &amp;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606E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1" y="2641064"/>
            <a:ext cx="6537960" cy="199028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built with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tested locally.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and model artifacts published in a public GitHub repository.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LFS configured for the large model weights file.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 recorded in requirements.txt.</a:t>
            </a:r>
          </a:p>
          <a:p>
            <a:pPr>
              <a:spcAft>
                <a:spcPts val="1300"/>
              </a:spcAft>
              <a:defRPr sz="1600">
                <a:solidFill>
                  <a:srgbClr val="2734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tested to confirm prediction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28800"/>
            <a:ext cx="36118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1828800"/>
            <a:ext cx="73152" cy="3337560"/>
          </a:xfrm>
          <a:prstGeom prst="rect">
            <a:avLst/>
          </a:prstGeom>
          <a:solidFill>
            <a:srgbClr val="1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7848" y="1975104"/>
            <a:ext cx="324612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3233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6135" y="3068833"/>
            <a:ext cx="3246120" cy="104951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73446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needs its saved weights, configuration, and tokenizer files. Git LFS must retrieve the actual model file when cloning the repository.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94360"/>
            <a:ext cx="10515600" cy="28007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100" b="1">
                <a:solidFill>
                  <a:srgbClr val="60C2D2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46237"/>
            <a:ext cx="10332720" cy="52629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81115"/>
            <a:ext cx="9875520" cy="1256754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6EEF7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84.12% test accuracy and an F1-score of 81.36%.</a:t>
            </a:r>
          </a:p>
          <a:p>
            <a:pPr>
              <a:spcAft>
                <a:spcPts val="1300"/>
              </a:spcAft>
              <a:defRPr sz="1800">
                <a:solidFill>
                  <a:srgbClr val="E6EEF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adds a separate sentiment signal to the classification result.</a:t>
            </a:r>
          </a:p>
          <a:p>
            <a:pPr>
              <a:spcAft>
                <a:spcPts val="1300"/>
              </a:spcAft>
              <a:defRPr sz="1800">
                <a:solidFill>
                  <a:srgbClr val="E6EEF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deployed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demonstrates an end-to-end NLP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9601200" cy="31085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500" b="0">
                <a:solidFill>
                  <a:srgbClr val="60C2D2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improve ambiguous-context handling and expand real-world error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9601200" cy="41857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1000" b="1">
                <a:solidFill>
                  <a:srgbClr val="B4C2D4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5785</TotalTime>
  <Words>1063</Words>
  <Application>Microsoft Office PowerPoint</Application>
  <PresentationFormat>Widescreen</PresentationFormat>
  <Paragraphs>186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2026-10-13T13:25:27Z</dcterms:modified>
  <cp:category/>
</cp:coreProperties>
</file>